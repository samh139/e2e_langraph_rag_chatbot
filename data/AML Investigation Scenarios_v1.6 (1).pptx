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A2FF"/>
    <a:srgbClr val="7A4DEC"/>
    <a:srgbClr val="5514B3"/>
    <a:srgbClr val="DA5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607239-1121-5FD2-91FB-ACA687808B1A}" v="2" dt="2025-06-19T12:07:39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7"/>
    <p:restoredTop sz="94636"/>
  </p:normalViewPr>
  <p:slideViewPr>
    <p:cSldViewPr snapToGrid="0">
      <p:cViewPr varScale="1">
        <p:scale>
          <a:sx n="139" d="100"/>
          <a:sy n="139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6F2AC-9E85-EC4E-8F91-84388317237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0015A-D3FE-F044-BBD9-3F760DE4B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36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AFC6-9541-23D6-2BA8-C95DDC29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0F7B9-487D-B793-7092-585D1CE0E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663D2-6C71-8239-A91E-65FDF36B5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684DB-DF61-27A0-79FC-3E7B21A72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30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7BB87-25A9-FC06-080A-2A3B6F00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84E59-73C0-3229-DCD9-066B3AEC9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3C09E-0206-1C8A-9E99-2F6A0E35A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CA8C8-C05B-E8C2-29DB-F8871069C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06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4EFB2-8827-6AD4-1916-B768DF33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F099C-E392-D34D-B73E-98ABCD570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2B6E1-E958-B3CE-9CAE-4AD0AECCD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E26C8-FE51-2E29-1F9B-B19483C9E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94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4EE6-A0D3-4674-E9A2-3DDAE330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86BEF-6DA1-FF26-49D9-D828615C5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2822B-E165-A57D-D786-4D24D7007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AD801-E6AB-E65C-240F-FD625D65F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13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5CB3-944E-2DB6-D9C3-354FCF4A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8B8D1-DA98-BF8C-7E6B-5BDC3EDFD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48967-C6C9-2B26-1D04-937B0D373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E8FE8-FD40-9418-7FC6-F463428CC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17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14C9-85F5-33DF-A9D6-DB86AB75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42230-342E-1256-1A3C-24C76A0DE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E91D0-7D08-CD78-B939-5B6A39FF1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7D5AF-2691-9CDD-5CF8-FE9F4C2A6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6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9F3B-72D0-316D-49BC-26ADDAD2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85C3F-78C0-1A99-4FC3-FF86924A8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D933A-D01B-A014-B83F-2B09C862F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6B59F-A34A-0B48-746C-2C7D9A001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015A-D3FE-F044-BBD9-3F760DE4BC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6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011D-B65B-4F04-0901-2A5D9A446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1B406-DC06-D836-8854-F24BA5110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00B90-9D3A-9DA3-3DBC-F82F8604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F817-C60E-6A0E-C48D-B1536CC5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9ACA3-0F6D-C568-6B8C-3E05AFDC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1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13AA-9494-8DA1-0B12-CD549A57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7A411-3EC0-96C6-2959-8774BF8FC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2E174-0A8B-64BD-E937-64A229D3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45DA6-5EB2-5C77-CC06-50E3D06A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EE39-27F3-F6B9-7922-7CFA95DF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0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D912-ED7E-E11F-4C9A-8A28D6DE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AD742-EE97-95D8-9979-E61456829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44788-7A1B-8350-9B08-D3BDD722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A0BBE-58FE-9B2E-6287-9B50D874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17AE6-6975-532E-66DC-C6DD1E7E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2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2CA6-3A92-C7E5-126C-52473AF5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A9E6-FA3D-0FD0-F82A-E423831C7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EE5D2-E1AC-D962-264B-719E3D61D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F47A1-9195-0758-F74E-90AEF9DE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92D98-2215-E4A7-FA09-3F9CB740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DC412-841B-5376-C26F-73F0A4A9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05A5-98CB-6E9B-08C7-D22934BD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35F94-8C1F-27C4-E072-C9F03B9D8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AC6B1-FEC1-4DD7-7E8D-58D9FFF3A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BC8D3-92B5-3FF9-B2DE-C4B5DD0B5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CA6AA-16ED-A34D-E36D-6C5EFFF33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F6B0F-3BD4-677C-95BB-03E9405C8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CE8E8-747B-B0B6-29B4-DCBDD03F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27DE1-8E96-4E30-D96A-E9FB9E2E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6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A2B3-7FF5-0EE2-087D-D9D82984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5CC17-4F4E-334B-A2E5-AFA33FCB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86B2-EADF-6DB8-1BC1-AF2C9755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C6164-46AC-71D0-42B4-67DEECA4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9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095F4-1133-6DCC-A0F5-9AF1DFE0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EA6B6-D050-81D3-9FEA-8145B344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8DBA2-6206-D47B-0E26-9360A91A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AD30-80F4-7044-2C4E-F8BC9A80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D5BD-A2C4-47B8-1582-12B19A5DE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97BB2-2B1C-4CD8-6FBE-11443983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79FDA-67AF-DF6D-B7AA-8C7CB98B4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B1350-6392-7F4B-0B4C-3BA60EC7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38DAE-64B4-544C-B30C-38092EF91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2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C67A-F490-1DF1-5A4E-97B1B68F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135D9-ED28-A71D-BABB-5CD00F9BD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ABF50-BA5F-CF60-4E30-0CD76E1AF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EBB73-A270-1FBC-5A3A-079F9591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2AB44-AF80-7995-BDEF-B32540ADA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F7A68-7069-1C91-EA65-33BD4882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8265-550F-7E64-1F73-B376C3E7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64651-9F36-0F03-C80D-4B625276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2534-ECF1-A5E7-F0E3-6F14E024D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36CC-4B18-9615-E35E-1192D4BE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F97D8-5577-4D38-73D4-3521DA79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6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A225AA-9291-8156-9227-548681161C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2516C-B1D7-B86F-D055-D989E2A84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FE6EB-3AFA-6D87-3B8A-5C846139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71C4-6942-B569-E40B-7DAB7391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93E2-D52F-FA66-95B9-8EA4E97E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4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78943-266D-3C53-34B7-2E13EDF7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61F3F-2FC4-DB52-E834-C6BB8AF1F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84AB-D944-9481-975F-E6F5870BE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74E0C-0CFE-BF44-9EC8-98CB5D661B43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E4463-620C-5F59-B6E0-114FC3C9E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10DE-32C5-0074-7787-AF3F940EC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DB219-768F-5548-BAAF-5CC6FE05B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2BBD-A276-E4C7-1E93-C6874DB1F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b="1"/>
              <a:t>AML Alert Investigations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57A3D-79B1-9DA9-19A8-FE8774E15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b="1"/>
              <a:t>Demo Scenarios</a:t>
            </a:r>
          </a:p>
        </p:txBody>
      </p:sp>
    </p:spTree>
    <p:extLst>
      <p:ext uri="{BB962C8B-B14F-4D97-AF65-F5344CB8AC3E}">
        <p14:creationId xmlns:p14="http://schemas.microsoft.com/office/powerpoint/2010/main" val="3023669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5846-6087-7AF5-CBB4-A871C14D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900" b="1"/>
              <a:t>Scenario 1: Inward | Domestic | False Positive</a:t>
            </a:r>
            <a:endParaRPr lang="en-US" sz="29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DFC2FC-F5A3-A4DF-F6BB-28889E1D1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845071"/>
              </p:ext>
            </p:extLst>
          </p:nvPr>
        </p:nvGraphicFramePr>
        <p:xfrm>
          <a:off x="637784" y="1884395"/>
          <a:ext cx="4422732" cy="326136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John A. Harris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United States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New York, NY, USA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Senior Software Engineer – </a:t>
                      </a:r>
                      <a:r>
                        <a:rPr lang="en-IN" sz="1400" b="0" err="1"/>
                        <a:t>AlphaTech</a:t>
                      </a:r>
                      <a:r>
                        <a:rPr lang="en-IN" sz="1400" b="0"/>
                        <a:t> Inc.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Personal Checking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Inward – Domestic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ACH Credit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11C742B-60FC-DD02-0F93-50B53AE2658B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An </a:t>
            </a:r>
            <a:r>
              <a:rPr lang="en-IN" sz="1600" b="1" i="1"/>
              <a:t>ACH credit of $ 62 500 from Computershare</a:t>
            </a:r>
            <a:r>
              <a:rPr lang="en-IN" sz="1600" i="1"/>
              <a:t> (brokerage) hit John Harris’s checking account breached the threshold of </a:t>
            </a:r>
            <a:r>
              <a:rPr lang="en-IN" sz="1600" b="1" i="1"/>
              <a:t>$ 60 000</a:t>
            </a:r>
            <a:r>
              <a:rPr lang="en-IN" sz="1600" i="1"/>
              <a:t> for a </a:t>
            </a:r>
            <a:r>
              <a:rPr lang="en-IN" sz="1600" b="1" i="1"/>
              <a:t>Low‑risk, US‑resident, US‑citizen</a:t>
            </a:r>
            <a:r>
              <a:rPr lang="en-IN" sz="1600" i="1"/>
              <a:t>.</a:t>
            </a:r>
            <a:endParaRPr lang="en-US" sz="1600" i="1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E84A73-B2EF-3C3F-6CF0-A44506FE8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593199"/>
              </p:ext>
            </p:extLst>
          </p:nvPr>
        </p:nvGraphicFramePr>
        <p:xfrm>
          <a:off x="5285982" y="1884395"/>
          <a:ext cx="6267587" cy="3261360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12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668441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John earns about </a:t>
                      </a:r>
                      <a:r>
                        <a:rPr lang="en-IN" sz="1400" b="1"/>
                        <a:t>$175 k a year</a:t>
                      </a:r>
                      <a:r>
                        <a:rPr lang="en-IN" sz="1400"/>
                        <a:t> as a senior software engineer, and he’s been with us since 2018 (KYC file)</a:t>
                      </a:r>
                      <a:endParaRPr lang="en-IN" sz="1400" i="1"/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943681">
                <a:tc>
                  <a:txBody>
                    <a:bodyPr/>
                    <a:lstStyle/>
                    <a:p>
                      <a:r>
                        <a:rPr lang="en-IN" sz="1400"/>
                        <a:t>Every April he sells some of his company’s employee‑stock shares. We see </a:t>
                      </a:r>
                      <a:r>
                        <a:rPr lang="en-IN" sz="1400" b="1"/>
                        <a:t>one big deposit of around $90‑110 k</a:t>
                      </a:r>
                      <a:r>
                        <a:rPr lang="en-IN" sz="1400"/>
                        <a:t> each year that looks just like this one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668441">
                <a:tc>
                  <a:txBody>
                    <a:bodyPr/>
                    <a:lstStyle/>
                    <a:p>
                      <a:r>
                        <a:rPr lang="en-IN" sz="1400"/>
                        <a:t>Three weeks ago, the relationship manager wrote that John planned to “cash‑out ESPP shares this month” (RM note).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668441">
                <a:tc>
                  <a:txBody>
                    <a:bodyPr/>
                    <a:lstStyle/>
                    <a:p>
                      <a:r>
                        <a:rPr lang="en-IN" sz="1400"/>
                        <a:t>In five years we have never raised an AML alert on his account, and no negative news has surfaced (alerts log &amp; screening).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D8C8E5-9018-9F11-A492-866BDBC4D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037566"/>
              </p:ext>
            </p:extLst>
          </p:nvPr>
        </p:nvGraphicFramePr>
        <p:xfrm>
          <a:off x="637784" y="5250465"/>
          <a:ext cx="1095014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Payment aligns with documented ESPP pattern and prior RM note; sender (Computershare) is expected. No other red‑flags present.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40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39B0-D833-A73C-EC30-D475910F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0B5E-C730-9B0D-6F92-A47B99C5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900" b="1"/>
              <a:t>Scenario 2: Inward | Domestic | Suspected Money Laundering</a:t>
            </a:r>
            <a:endParaRPr lang="en-US" sz="29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711771-61A4-8F1B-3E83-85AD5C7C1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62180"/>
              </p:ext>
            </p:extLst>
          </p:nvPr>
        </p:nvGraphicFramePr>
        <p:xfrm>
          <a:off x="637784" y="2109863"/>
          <a:ext cx="4422732" cy="326136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Alejandro Gómez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Mexico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El Paso, TX, USA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Owner – Border Taproom LLC (bar)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Money‑Market Account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Inward – Domestic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Fedwire Credit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84B274-6BE0-F5BC-04C1-F2B1529D9020}"/>
              </a:ext>
            </a:extLst>
          </p:cNvPr>
          <p:cNvSpPr txBox="1"/>
          <p:nvPr/>
        </p:nvSpPr>
        <p:spPr>
          <a:xfrm>
            <a:off x="620927" y="1196055"/>
            <a:ext cx="10932642" cy="830997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b="1" i="1"/>
              <a:t>Two same‑day Fedwire credits</a:t>
            </a:r>
            <a:r>
              <a:rPr lang="en-IN" sz="1600" i="1"/>
              <a:t> of </a:t>
            </a:r>
            <a:r>
              <a:rPr lang="en-IN" sz="1600" b="1" i="1"/>
              <a:t>$ 24 000</a:t>
            </a:r>
            <a:r>
              <a:rPr lang="en-IN" sz="1600" i="1"/>
              <a:t> and </a:t>
            </a:r>
            <a:r>
              <a:rPr lang="en-IN" sz="1600" b="1" i="1"/>
              <a:t>$ 25 500</a:t>
            </a:r>
            <a:r>
              <a:rPr lang="en-IN" sz="1600" i="1"/>
              <a:t> from unrelated construction‑equipment suppliers posted to Alejandro Gómez’s money‑market account. Each wire breached </a:t>
            </a:r>
            <a:r>
              <a:rPr lang="en-IN" sz="1600" b="1" i="1"/>
              <a:t>$ 20 000</a:t>
            </a:r>
            <a:r>
              <a:rPr lang="en-IN" sz="1600" i="1"/>
              <a:t> — the threshold for a </a:t>
            </a:r>
            <a:r>
              <a:rPr lang="en-IN" sz="1600" b="1" i="1"/>
              <a:t>High‑risk, US‑resident, non‑US‑citizen</a:t>
            </a:r>
            <a:r>
              <a:rPr lang="en-IN" sz="1600" i="1"/>
              <a:t>.</a:t>
            </a:r>
            <a:endParaRPr lang="en-US" sz="1600" i="1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8942F1-EE00-6001-070D-78FFFCBBB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819950"/>
              </p:ext>
            </p:extLst>
          </p:nvPr>
        </p:nvGraphicFramePr>
        <p:xfrm>
          <a:off x="5285982" y="2109863"/>
          <a:ext cx="6267587" cy="3261360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095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611968">
                <a:tc>
                  <a:txBody>
                    <a:bodyPr/>
                    <a:lstStyle/>
                    <a:p>
                      <a:r>
                        <a:rPr lang="en-IN" sz="1400"/>
                        <a:t>Alejandro owns a neighbourhood bar that reports </a:t>
                      </a:r>
                      <a:r>
                        <a:rPr lang="en-IN" sz="1400" b="1"/>
                        <a:t>about $350 k in annual sales</a:t>
                      </a:r>
                      <a:r>
                        <a:rPr lang="en-IN" sz="1400"/>
                        <a:t> (KYC profile).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611968">
                <a:tc>
                  <a:txBody>
                    <a:bodyPr/>
                    <a:lstStyle/>
                    <a:p>
                      <a:r>
                        <a:rPr lang="en-IN" sz="1400"/>
                        <a:t>Last year, however, </a:t>
                      </a:r>
                      <a:r>
                        <a:rPr lang="en-IN" sz="1400" b="1"/>
                        <a:t>more than $1 million</a:t>
                      </a:r>
                      <a:r>
                        <a:rPr lang="en-IN" sz="1400"/>
                        <a:t> flowed into his account — far above what a bar of that size would normally take in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863954">
                <a:tc>
                  <a:txBody>
                    <a:bodyPr/>
                    <a:lstStyle/>
                    <a:p>
                      <a:r>
                        <a:rPr lang="en-IN" sz="1400"/>
                        <a:t>Seven previous alerts flagged “structuring” — splitting cash deposits into smaller amounts. Each time he was “educated” but the behaviour continued (alerts log).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863954">
                <a:tc>
                  <a:txBody>
                    <a:bodyPr/>
                    <a:lstStyle/>
                    <a:p>
                      <a:r>
                        <a:rPr lang="en-IN" sz="1400"/>
                        <a:t>The two new wires came from </a:t>
                      </a:r>
                      <a:r>
                        <a:rPr lang="en-IN" sz="1400" b="1"/>
                        <a:t>construction‑equipment companies</a:t>
                      </a:r>
                      <a:r>
                        <a:rPr lang="en-IN" sz="1400"/>
                        <a:t> that have nothing to do with running a bar. Alejandro has never explained why those firms are paying him (transaction review &amp; RM notes).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931724-C0F9-8ED7-331D-78451A15C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26979"/>
              </p:ext>
            </p:extLst>
          </p:nvPr>
        </p:nvGraphicFramePr>
        <p:xfrm>
          <a:off x="637784" y="5475933"/>
          <a:ext cx="10950145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Incoming wires from industries unrelated to declared business, persistent inflow of funds in excess of his business turnover, and history of structuring that indicate </a:t>
                      </a:r>
                      <a:r>
                        <a:rPr lang="en-IN" sz="1400" i="1"/>
                        <a:t>layering</a:t>
                      </a:r>
                      <a:r>
                        <a:rPr lang="en-IN" sz="1400"/>
                        <a:t>.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82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4CF6117-8615-5F04-2094-249D081E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738A-FD4C-30BC-19A4-883CDE84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900" b="1"/>
              <a:t>Scenario 3: Inward | Cross‑Border | False Positive</a:t>
            </a:r>
            <a:endParaRPr lang="en-US" sz="29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1DC629-A1EF-05EF-7F7E-E9F627ECF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443373"/>
              </p:ext>
            </p:extLst>
          </p:nvPr>
        </p:nvGraphicFramePr>
        <p:xfrm>
          <a:off x="637784" y="1884395"/>
          <a:ext cx="4422732" cy="326136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Emily Thao Nguyen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United States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Singapore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Regional HR Director – Trident Maritime Pte Ltd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Personal Savings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Inward – Cross Border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SWIFT Wire Transfer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593E77-3702-B177-8E30-7C69C06AD5A8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Incoming SWIFT wire of </a:t>
            </a:r>
            <a:r>
              <a:rPr lang="en-IN" sz="1600" b="1" i="1"/>
              <a:t>$ 55 000</a:t>
            </a:r>
            <a:r>
              <a:rPr lang="en-IN" sz="1600" i="1"/>
              <a:t> from OCBC Bank Singapore to client’s U.S. savings account breached the </a:t>
            </a:r>
            <a:r>
              <a:rPr lang="en-IN" sz="1600" b="1" i="1"/>
              <a:t>$ 45 000</a:t>
            </a:r>
            <a:r>
              <a:rPr lang="en-IN" sz="1600" i="1"/>
              <a:t> threshold for a </a:t>
            </a:r>
            <a:r>
              <a:rPr lang="en-IN" sz="1600" b="1" i="1"/>
              <a:t>Low‑risk, non‑US‑resident, US citizen</a:t>
            </a:r>
            <a:r>
              <a:rPr lang="en-IN" sz="1600"/>
              <a:t>.</a:t>
            </a:r>
            <a:endParaRPr lang="en-US" sz="160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11AE51-B038-A5A7-9A31-ACF566E7F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613260"/>
              </p:ext>
            </p:extLst>
          </p:nvPr>
        </p:nvGraphicFramePr>
        <p:xfrm>
          <a:off x="5285982" y="1884395"/>
          <a:ext cx="6267587" cy="3261360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055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669993">
                <a:tc>
                  <a:txBody>
                    <a:bodyPr/>
                    <a:lstStyle/>
                    <a:p>
                      <a:r>
                        <a:rPr lang="en-IN" sz="1400"/>
                        <a:t>Emily is a U.S. citizen working in Singapore on an expatriate contract that pays her in Singapore dollars (KYC file).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945873">
                <a:tc>
                  <a:txBody>
                    <a:bodyPr/>
                    <a:lstStyle/>
                    <a:p>
                      <a:r>
                        <a:rPr lang="en-IN" sz="1400" b="1"/>
                        <a:t>Every quarter</a:t>
                      </a:r>
                      <a:r>
                        <a:rPr lang="en-IN" sz="1400"/>
                        <a:t> she moves part of her salary — about </a:t>
                      </a:r>
                      <a:r>
                        <a:rPr lang="en-IN" sz="1400" b="1"/>
                        <a:t>$40‑60 k</a:t>
                      </a:r>
                      <a:r>
                        <a:rPr lang="en-IN" sz="1400"/>
                        <a:t> — back to her U.S. savings account. The sender and amount are always consistent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669993">
                <a:tc>
                  <a:txBody>
                    <a:bodyPr/>
                    <a:lstStyle/>
                    <a:p>
                      <a:r>
                        <a:rPr lang="en-IN" sz="1400"/>
                        <a:t>She recently sold her Singapore apartment; the RM has a copy of the sales contract and noted the pending transfer (RM note).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669993">
                <a:tc>
                  <a:txBody>
                    <a:bodyPr/>
                    <a:lstStyle/>
                    <a:p>
                      <a:r>
                        <a:rPr lang="en-IN" sz="1400"/>
                        <a:t>Emily has never triggered an AML alert, and our screening shows no adverse media (alerts log &amp; screening).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319DC58-062A-2A3D-2FC1-5E5FBCD87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157622"/>
              </p:ext>
            </p:extLst>
          </p:nvPr>
        </p:nvGraphicFramePr>
        <p:xfrm>
          <a:off x="637784" y="5250465"/>
          <a:ext cx="10950145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Wire aligns with documented pattern of self‑fund transfers; condo‑sale paperwork already uploaded during RM call. No suspicious counterparties or structuring behaviour.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71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88A35-37A5-D8DF-A4EA-6E8CE38A7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8664-702D-D99D-BCCE-5EF37ACF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IN" sz="3200" b="1"/>
              <a:t>Scenario 4: Inward | Cross‑Border |  Suspected Money Laundering</a:t>
            </a:r>
            <a:endParaRPr lang="en-US" sz="3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C836C9-CE09-FCC1-F6CC-454EA485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91767"/>
              </p:ext>
            </p:extLst>
          </p:nvPr>
        </p:nvGraphicFramePr>
        <p:xfrm>
          <a:off x="637784" y="1884395"/>
          <a:ext cx="4422732" cy="326136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Sergey Kovalenko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Kazakhstan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Jersey City, NJ, USA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Self‑employed “Import Consultant”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12‑Month Term Deposit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Inward – Cross Border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SWIFT Wire Transfer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E3E2C4-1F30-5CBF-E7F5-DB58B7CD7ECA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SWIFT credit of </a:t>
            </a:r>
            <a:r>
              <a:rPr lang="en-IN" sz="1600" b="1" i="1"/>
              <a:t>$ 95 000</a:t>
            </a:r>
            <a:r>
              <a:rPr lang="en-IN" sz="1600" i="1"/>
              <a:t> from “</a:t>
            </a:r>
            <a:r>
              <a:rPr lang="en-IN" sz="1600" i="1" err="1"/>
              <a:t>NordTrade</a:t>
            </a:r>
            <a:r>
              <a:rPr lang="en-IN" sz="1600" i="1"/>
              <a:t> OU, Tallinn” exceeded the </a:t>
            </a:r>
            <a:r>
              <a:rPr lang="en-IN" sz="1600" b="1" i="1"/>
              <a:t>$ 35 000</a:t>
            </a:r>
            <a:r>
              <a:rPr lang="en-IN" sz="1600" i="1"/>
              <a:t> threshold for a </a:t>
            </a:r>
            <a:r>
              <a:rPr lang="en-IN" sz="1600" b="1" i="1"/>
              <a:t>Medium‑risk, US‑resident, non‑US‑citizen</a:t>
            </a:r>
            <a:r>
              <a:rPr lang="en-IN" sz="1600"/>
              <a:t>.</a:t>
            </a:r>
            <a:endParaRPr lang="en-US" sz="160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25AD35-D56A-F71A-0D4E-28EDF9DE5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426988"/>
              </p:ext>
            </p:extLst>
          </p:nvPr>
        </p:nvGraphicFramePr>
        <p:xfrm>
          <a:off x="5285982" y="1884395"/>
          <a:ext cx="6267587" cy="3261360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157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r>
                        <a:rPr lang="en-IN" sz="1400"/>
                        <a:t>Sergey opened his account six months ago, saying he was a freelance “import consultant” who expected </a:t>
                      </a:r>
                      <a:r>
                        <a:rPr lang="en-IN" sz="1400" b="1"/>
                        <a:t>no more than $10 k a month</a:t>
                      </a:r>
                      <a:r>
                        <a:rPr lang="en-IN" sz="1400"/>
                        <a:t> (KYC file).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r>
                        <a:rPr lang="en-IN" sz="1400"/>
                        <a:t>Instead, he has already received </a:t>
                      </a:r>
                      <a:r>
                        <a:rPr lang="en-IN" sz="1400" b="1"/>
                        <a:t>three wires totalling $260 k</a:t>
                      </a:r>
                      <a:r>
                        <a:rPr lang="en-IN" sz="1400"/>
                        <a:t> from a little‑known Estonian shell company called </a:t>
                      </a:r>
                      <a:r>
                        <a:rPr lang="en-IN" sz="1400" i="1" err="1"/>
                        <a:t>NordTrade</a:t>
                      </a:r>
                      <a:r>
                        <a:rPr lang="en-IN" sz="1400" i="1"/>
                        <a:t> OU</a:t>
                      </a:r>
                      <a:r>
                        <a:rPr lang="en-IN" sz="1400"/>
                        <a:t>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r>
                        <a:rPr lang="en-IN" sz="1400"/>
                        <a:t>When the RM asked for invoices, Sergey replied that the work was “confidential” and refused to share documents (RM note).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r>
                        <a:rPr lang="en-IN" sz="1400"/>
                        <a:t>This is the first AML alert because the relationship is new, but the sudden jump in volume and opaque sender raise red flags (internal review).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AAF896-7620-2ADA-0525-6D53570AF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27343"/>
              </p:ext>
            </p:extLst>
          </p:nvPr>
        </p:nvGraphicFramePr>
        <p:xfrm>
          <a:off x="637784" y="5250465"/>
          <a:ext cx="1095014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Sudden escalation in volume, opaque shell‑company sender, refusal to provide supporting invoices ⇒ high suspicion of layering.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47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FD0A2-5E50-CDCB-FC72-5E262870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3FBA-AC6D-4C96-DB37-6E64D09A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900" b="1"/>
              <a:t>Scenario 5: Outward | Domestic | False Positive</a:t>
            </a:r>
            <a:endParaRPr lang="en-US" sz="29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F388BD-5A70-5BAA-343E-1C83BA85E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354379"/>
              </p:ext>
            </p:extLst>
          </p:nvPr>
        </p:nvGraphicFramePr>
        <p:xfrm>
          <a:off x="637784" y="1884395"/>
          <a:ext cx="4422732" cy="326136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326136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Dr Rachel Patterson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United States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Charlotte, NC, USA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err="1"/>
                        <a:t>Pediatrician</a:t>
                      </a:r>
                      <a:r>
                        <a:rPr lang="en-IN" sz="1400"/>
                        <a:t> – Novant Health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Personal Checking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Outward – Domestic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Fedwire (Escrow Payment)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96CE3B-64B6-0698-0A3D-2BB72D00D5B7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Fedwire payment of </a:t>
            </a:r>
            <a:r>
              <a:rPr lang="en-IN" sz="1600" b="1" i="1"/>
              <a:t>$ 160 000</a:t>
            </a:r>
            <a:r>
              <a:rPr lang="en-IN" sz="1600" i="1"/>
              <a:t> to “Smith &amp; Howard Closing LLC (Escrow)” breached the </a:t>
            </a:r>
            <a:r>
              <a:rPr lang="en-IN" sz="1600" b="1" i="1"/>
              <a:t>$ 60 000</a:t>
            </a:r>
            <a:r>
              <a:rPr lang="en-IN" sz="1600" i="1"/>
              <a:t> threshold for a </a:t>
            </a:r>
            <a:r>
              <a:rPr lang="en-IN" sz="1600" b="1" i="1"/>
              <a:t>Low‑risk, US‑resident, US citizen</a:t>
            </a:r>
            <a:r>
              <a:rPr lang="en-IN" sz="1600"/>
              <a:t>.</a:t>
            </a:r>
            <a:endParaRPr lang="en-US" sz="160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9AABF3-B5D3-95D6-39AB-908FACE82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982634"/>
              </p:ext>
            </p:extLst>
          </p:nvPr>
        </p:nvGraphicFramePr>
        <p:xfrm>
          <a:off x="5285982" y="1884395"/>
          <a:ext cx="6267587" cy="3261360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19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482196">
                <a:tc>
                  <a:txBody>
                    <a:bodyPr/>
                    <a:lstStyle/>
                    <a:p>
                      <a:r>
                        <a:rPr lang="en-IN" sz="1400"/>
                        <a:t>Dr Rachel Patterson earns about </a:t>
                      </a:r>
                      <a:r>
                        <a:rPr lang="en-IN" sz="1400" b="1"/>
                        <a:t>$270 k a year</a:t>
                      </a:r>
                      <a:r>
                        <a:rPr lang="en-IN" sz="1400"/>
                        <a:t> as a paediatrician (KYC file).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819734">
                <a:tc>
                  <a:txBody>
                    <a:bodyPr/>
                    <a:lstStyle/>
                    <a:p>
                      <a:r>
                        <a:rPr lang="en-IN" sz="1400"/>
                        <a:t>She arranged a mortgage pre‑approval in January and put </a:t>
                      </a:r>
                      <a:r>
                        <a:rPr lang="en-IN" sz="1400" b="1"/>
                        <a:t>$50 k</a:t>
                      </a:r>
                      <a:r>
                        <a:rPr lang="en-IN" sz="1400"/>
                        <a:t> in escrow last month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1157272">
                <a:tc>
                  <a:txBody>
                    <a:bodyPr/>
                    <a:lstStyle/>
                    <a:p>
                      <a:r>
                        <a:rPr lang="en-IN" sz="1400"/>
                        <a:t>The RM has her purchase contract for a </a:t>
                      </a:r>
                      <a:r>
                        <a:rPr lang="en-IN" sz="1400" b="1"/>
                        <a:t>$850 k home</a:t>
                      </a:r>
                      <a:r>
                        <a:rPr lang="en-IN" sz="1400"/>
                        <a:t> and the closing statement, which shows the exact wire amount sent to the licensed escrow company (RM note).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482196">
                <a:tc>
                  <a:txBody>
                    <a:bodyPr/>
                    <a:lstStyle/>
                    <a:p>
                      <a:r>
                        <a:rPr lang="en-IN" sz="1400"/>
                        <a:t>Rachel has a spotless record with no past AML alerts (alerts log).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DFA17F-6B3B-B0D9-F9F7-724B61F3E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949789"/>
              </p:ext>
            </p:extLst>
          </p:nvPr>
        </p:nvGraphicFramePr>
        <p:xfrm>
          <a:off x="637784" y="5250465"/>
          <a:ext cx="1095014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Wire matches disclosed real‑estate purchase; beneficiary licensed escrow company; source funds from documented savings.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5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6795-2F5C-17E6-20D2-49AD8DB82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F611-6BFE-DA67-5F54-601A7CDC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IN" sz="3200" b="1"/>
              <a:t>Scenario 6: Outward | Domestic | Suspected Money Laundering</a:t>
            </a:r>
            <a:endParaRPr lang="en-US" sz="3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31AF85-7031-AED4-86A8-FBB70EB53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13958"/>
              </p:ext>
            </p:extLst>
          </p:nvPr>
        </p:nvGraphicFramePr>
        <p:xfrm>
          <a:off x="637784" y="1884395"/>
          <a:ext cx="4422732" cy="326136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326136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Darius Walker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United States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Detroit, MI, USA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Self‑styled “Art Dealer”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Money‑Market Account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Outward – Domestic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RTP / Immediate Credit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FF4AAB-D3C5-B329-D583-F56EFAE47D12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Three same‑day RTP (real‑time payments) of </a:t>
            </a:r>
            <a:r>
              <a:rPr lang="en-IN" sz="1600" b="1" i="1"/>
              <a:t>$ 27 000</a:t>
            </a:r>
            <a:r>
              <a:rPr lang="en-IN" sz="1600" i="1"/>
              <a:t>, </a:t>
            </a:r>
            <a:r>
              <a:rPr lang="en-IN" sz="1600" b="1" i="1"/>
              <a:t>$ 28 500</a:t>
            </a:r>
            <a:r>
              <a:rPr lang="en-IN" sz="1600" i="1"/>
              <a:t> and </a:t>
            </a:r>
            <a:r>
              <a:rPr lang="en-IN" sz="1600" b="1" i="1"/>
              <a:t>$ 29 100</a:t>
            </a:r>
            <a:r>
              <a:rPr lang="en-IN" sz="1600" i="1"/>
              <a:t> to newly opened external bank accounts — each exceeds the </a:t>
            </a:r>
            <a:r>
              <a:rPr lang="en-IN" sz="1600" b="1" i="1"/>
              <a:t>$ 25 000</a:t>
            </a:r>
            <a:r>
              <a:rPr lang="en-IN" sz="1600" i="1"/>
              <a:t> threshold for a </a:t>
            </a:r>
            <a:r>
              <a:rPr lang="en-IN" sz="1600" b="1" i="1"/>
              <a:t>High‑risk, US‑resident, US citizen</a:t>
            </a:r>
            <a:r>
              <a:rPr lang="en-IN" sz="1600"/>
              <a:t>.</a:t>
            </a:r>
            <a:endParaRPr lang="en-US" sz="160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C971D7-5CCC-5D71-E9ED-DDE28E6A1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268969"/>
              </p:ext>
            </p:extLst>
          </p:nvPr>
        </p:nvGraphicFramePr>
        <p:xfrm>
          <a:off x="5285982" y="1884395"/>
          <a:ext cx="6267587" cy="3261361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12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663247">
                <a:tc>
                  <a:txBody>
                    <a:bodyPr/>
                    <a:lstStyle/>
                    <a:p>
                      <a:r>
                        <a:rPr lang="en-IN" sz="1400"/>
                        <a:t>Darius calls himself an “online art dealer,” but he could not provide a gallery licence or even a fixed business address (KYC file &amp; RM note).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936349">
                <a:tc>
                  <a:txBody>
                    <a:bodyPr/>
                    <a:lstStyle/>
                    <a:p>
                      <a:r>
                        <a:rPr lang="en-IN" sz="1400"/>
                        <a:t>Over the last two months, </a:t>
                      </a:r>
                      <a:r>
                        <a:rPr lang="en-IN" sz="1400" b="1"/>
                        <a:t>$210 k</a:t>
                      </a:r>
                      <a:r>
                        <a:rPr lang="en-IN" sz="1400"/>
                        <a:t> incoming transfers from prepaid cards from unknown parties from several U.S. states — a common sign of anonymous cash entering the system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686423">
                <a:tc>
                  <a:txBody>
                    <a:bodyPr/>
                    <a:lstStyle/>
                    <a:p>
                      <a:r>
                        <a:rPr lang="en-IN" sz="1400"/>
                        <a:t>He immediately broke up the balance into three large real‑time payments to brand‑new bank accounts held by unrelated individuals (today’s alert).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663247">
                <a:tc>
                  <a:txBody>
                    <a:bodyPr/>
                    <a:lstStyle/>
                    <a:p>
                      <a:r>
                        <a:rPr lang="en-IN" sz="1400"/>
                        <a:t>Darius already has </a:t>
                      </a:r>
                      <a:r>
                        <a:rPr lang="en-IN" sz="1400" b="1"/>
                        <a:t>six earlier alerts</a:t>
                      </a:r>
                      <a:r>
                        <a:rPr lang="en-IN" sz="1400"/>
                        <a:t> for similar behaviour, and we filed two SARs in 2023 (alerts log).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19EB1D-71F2-C84E-1C5F-ED7413C53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29919"/>
              </p:ext>
            </p:extLst>
          </p:nvPr>
        </p:nvGraphicFramePr>
        <p:xfrm>
          <a:off x="637784" y="5250465"/>
          <a:ext cx="1095014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Classic layering: anonymous prepaid funds funnelled in, fragmented to newly opened domestic accounts with no business link.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262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B85BD-DF99-FB9D-0F5B-D5D915742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A986-0E82-BFEF-1890-B522047E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900" b="1"/>
              <a:t>Scenario 7: Outward | Cross‑Border | False Positive</a:t>
            </a:r>
            <a:endParaRPr lang="en-US" sz="29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87496A-7C61-C62B-0EC6-295FF18D2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894687"/>
              </p:ext>
            </p:extLst>
          </p:nvPr>
        </p:nvGraphicFramePr>
        <p:xfrm>
          <a:off x="637784" y="1884395"/>
          <a:ext cx="4422732" cy="3290169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308001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Anna Morales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United States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Edinburgh, United Kingdom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489348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Graduate Student – M.Sc. Data Science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Savings Account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Outward – Cross Border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308001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SWIFT Wire Transfer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99E958-568E-4800-1E20-9C101AF1BD37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SWIFT tuition payment of </a:t>
            </a:r>
            <a:r>
              <a:rPr lang="en-IN" sz="1600" b="1" i="1"/>
              <a:t>$ 32 000</a:t>
            </a:r>
            <a:r>
              <a:rPr lang="en-IN" sz="1600" i="1"/>
              <a:t> to University of Edinburgh exceeds the </a:t>
            </a:r>
            <a:r>
              <a:rPr lang="en-IN" sz="1600" b="1" i="1"/>
              <a:t>$ 30 000</a:t>
            </a:r>
            <a:r>
              <a:rPr lang="en-IN" sz="1600" i="1"/>
              <a:t> threshold for a </a:t>
            </a:r>
            <a:r>
              <a:rPr lang="en-IN" sz="1600" b="1" i="1"/>
              <a:t>Medium‑risk, non‑US‑resident, US citizen</a:t>
            </a:r>
            <a:r>
              <a:rPr lang="en-IN" sz="1600"/>
              <a:t>.</a:t>
            </a:r>
            <a:endParaRPr lang="en-US" sz="1600">
              <a:solidFill>
                <a:srgbClr val="40404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1CA755-5379-6575-5D47-41EEE4321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312195"/>
              </p:ext>
            </p:extLst>
          </p:nvPr>
        </p:nvGraphicFramePr>
        <p:xfrm>
          <a:off x="5285982" y="1884395"/>
          <a:ext cx="6267587" cy="3290167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05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728651">
                <a:tc>
                  <a:txBody>
                    <a:bodyPr/>
                    <a:lstStyle/>
                    <a:p>
                      <a:r>
                        <a:rPr lang="en-IN" sz="1400"/>
                        <a:t>Anna is an American graduate student at the University of Edinburgh. Her visa, enrolment letter, and scholarship paperwork are on file (KYC documents).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728651">
                <a:tc>
                  <a:txBody>
                    <a:bodyPr/>
                    <a:lstStyle/>
                    <a:p>
                      <a:r>
                        <a:rPr lang="en-IN" sz="1400"/>
                        <a:t>Every semester she wires tuition — roughly </a:t>
                      </a:r>
                      <a:r>
                        <a:rPr lang="en-IN" sz="1400" b="1"/>
                        <a:t>$30‑32 k</a:t>
                      </a:r>
                      <a:r>
                        <a:rPr lang="en-IN" sz="1400"/>
                        <a:t> — directly to the university. Today’s payment is in line with that pattern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798449">
                <a:tc>
                  <a:txBody>
                    <a:bodyPr/>
                    <a:lstStyle/>
                    <a:p>
                      <a:r>
                        <a:rPr lang="en-IN" sz="1400"/>
                        <a:t>The money comes from her U.S. college‑savings (529) plan, which we can see was redeemed a week ago (transaction trail).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728651">
                <a:tc>
                  <a:txBody>
                    <a:bodyPr/>
                    <a:lstStyle/>
                    <a:p>
                      <a:r>
                        <a:rPr lang="en-IN" sz="1400"/>
                        <a:t>She has never triggered an alert or appeared in negative news searches (alerts log &amp; screening).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E002FB-2085-6005-9DFC-117D3FD71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401084"/>
              </p:ext>
            </p:extLst>
          </p:nvPr>
        </p:nvGraphicFramePr>
        <p:xfrm>
          <a:off x="637784" y="5250465"/>
          <a:ext cx="1095014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Repetitive, well‑documented tuition payments with transparent funding source.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06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FCBF459-4D60-08A4-502B-262AFD6C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72E0-7B4D-DCC2-3974-6E7D1441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7" y="452807"/>
            <a:ext cx="10950146" cy="72736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IN" sz="3200" b="1"/>
              <a:t>Scenario 8: Outward | Cross‑Border | Suspected Money Laundering</a:t>
            </a:r>
            <a:endParaRPr lang="en-US" sz="3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016ED-B474-8671-40BF-0FB729545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265398"/>
              </p:ext>
            </p:extLst>
          </p:nvPr>
        </p:nvGraphicFramePr>
        <p:xfrm>
          <a:off x="637784" y="1884396"/>
          <a:ext cx="4422732" cy="3474720"/>
        </p:xfrm>
        <a:graphic>
          <a:graphicData uri="http://schemas.openxmlformats.org/drawingml/2006/table">
            <a:tbl>
              <a:tblPr/>
              <a:tblGrid>
                <a:gridCol w="1980156">
                  <a:extLst>
                    <a:ext uri="{9D8B030D-6E8A-4147-A177-3AD203B41FA5}">
                      <a16:colId xmlns:a16="http://schemas.microsoft.com/office/drawing/2014/main" val="474315667"/>
                    </a:ext>
                  </a:extLst>
                </a:gridCol>
                <a:gridCol w="2442576">
                  <a:extLst>
                    <a:ext uri="{9D8B030D-6E8A-4147-A177-3AD203B41FA5}">
                      <a16:colId xmlns:a16="http://schemas.microsoft.com/office/drawing/2014/main" val="2891679162"/>
                    </a:ext>
                  </a:extLst>
                </a:gridCol>
              </a:tblGrid>
              <a:tr h="237028"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Customer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92455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Kevin Lau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5774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Nationality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United States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37782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Country of Residence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Los Angeles, CA, USA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463738"/>
                  </a:ext>
                </a:extLst>
              </a:tr>
              <a:tr h="402947">
                <a:tc>
                  <a:txBody>
                    <a:bodyPr/>
                    <a:lstStyle/>
                    <a:p>
                      <a:r>
                        <a:rPr lang="en-IN" sz="1400" b="0"/>
                        <a:t>Risk Rating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High (PEP relative + cash‑intensive business)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04642"/>
                  </a:ext>
                </a:extLst>
              </a:tr>
              <a:tr h="402947">
                <a:tc>
                  <a:txBody>
                    <a:bodyPr/>
                    <a:lstStyle/>
                    <a:p>
                      <a:r>
                        <a:rPr lang="en-IN" sz="1400" b="0"/>
                        <a:t>Occupation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Owner – Pacific Cargo Movers (domestic trucking)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161845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14052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Business Checking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85294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Transaction Mode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Outward – Cross Border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214246"/>
                  </a:ext>
                </a:extLst>
              </a:tr>
              <a:tr h="237028">
                <a:tc>
                  <a:txBody>
                    <a:bodyPr/>
                    <a:lstStyle/>
                    <a:p>
                      <a:r>
                        <a:rPr lang="en-IN" sz="1400" b="0"/>
                        <a:t>Transaction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SWIFT Wire Transfer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46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444F3B-613B-7F47-8036-A3E96F9F848D}"/>
              </a:ext>
            </a:extLst>
          </p:cNvPr>
          <p:cNvSpPr txBox="1"/>
          <p:nvPr/>
        </p:nvSpPr>
        <p:spPr>
          <a:xfrm>
            <a:off x="620927" y="1196055"/>
            <a:ext cx="10932642" cy="584775"/>
          </a:xfrm>
          <a:prstGeom prst="rect">
            <a:avLst/>
          </a:prstGeom>
          <a:solidFill>
            <a:srgbClr val="93A2FF">
              <a:alpha val="50484"/>
            </a:srgb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/>
              <a:t>Alert reason &amp; threshold breached:</a:t>
            </a:r>
            <a:r>
              <a:rPr lang="en-IN" sz="1600"/>
              <a:t> </a:t>
            </a:r>
            <a:r>
              <a:rPr lang="en-IN" sz="1600" i="1"/>
              <a:t>SWIFT wire of </a:t>
            </a:r>
            <a:r>
              <a:rPr lang="en-IN" sz="1600" b="1" i="1"/>
              <a:t>$ 120 000</a:t>
            </a:r>
            <a:r>
              <a:rPr lang="en-IN" sz="1600" i="1"/>
              <a:t> to “</a:t>
            </a:r>
            <a:r>
              <a:rPr lang="en-IN" sz="1600" i="1" err="1"/>
              <a:t>Brightshore</a:t>
            </a:r>
            <a:r>
              <a:rPr lang="en-IN" sz="1600" i="1"/>
              <a:t> Dynamics S.A., Luxembourg” breached the </a:t>
            </a:r>
            <a:r>
              <a:rPr lang="en-IN" sz="1600" b="1" i="1"/>
              <a:t>$ 25 000</a:t>
            </a:r>
            <a:r>
              <a:rPr lang="en-IN" sz="1600" i="1"/>
              <a:t> threshold for a </a:t>
            </a:r>
            <a:r>
              <a:rPr lang="en-IN" sz="1600" b="1" i="1"/>
              <a:t>High‑risk, US‑resident, US citizen</a:t>
            </a:r>
            <a:r>
              <a:rPr lang="en-IN" sz="160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293772-887B-87D9-1D47-A5C072FDE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0129"/>
              </p:ext>
            </p:extLst>
          </p:nvPr>
        </p:nvGraphicFramePr>
        <p:xfrm>
          <a:off x="5285982" y="1884394"/>
          <a:ext cx="6267587" cy="3474719"/>
        </p:xfrm>
        <a:graphic>
          <a:graphicData uri="http://schemas.openxmlformats.org/drawingml/2006/table">
            <a:tbl>
              <a:tblPr/>
              <a:tblGrid>
                <a:gridCol w="6267587">
                  <a:extLst>
                    <a:ext uri="{9D8B030D-6E8A-4147-A177-3AD203B41FA5}">
                      <a16:colId xmlns:a16="http://schemas.microsoft.com/office/drawing/2014/main" val="1197953219"/>
                    </a:ext>
                  </a:extLst>
                </a:gridCol>
              </a:tblGrid>
              <a:tr h="3060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Background &amp; Historical Behaviour</a:t>
                      </a:r>
                      <a:endParaRPr lang="en-IN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73699"/>
                  </a:ext>
                </a:extLst>
              </a:tr>
              <a:tr h="544118">
                <a:tc>
                  <a:txBody>
                    <a:bodyPr/>
                    <a:lstStyle/>
                    <a:p>
                      <a:r>
                        <a:rPr lang="en-IN" sz="1400"/>
                        <a:t>Kevin runs a domestic trucking company but is also flagged as </a:t>
                      </a:r>
                      <a:r>
                        <a:rPr lang="en-IN" sz="1400" b="1"/>
                        <a:t>high‑risk</a:t>
                      </a:r>
                      <a:r>
                        <a:rPr lang="en-IN" sz="1400"/>
                        <a:t> because his brother is a state‑level politician (PEP relative noted in KYC).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56285"/>
                  </a:ext>
                </a:extLst>
              </a:tr>
              <a:tr h="768167">
                <a:tc>
                  <a:txBody>
                    <a:bodyPr/>
                    <a:lstStyle/>
                    <a:p>
                      <a:r>
                        <a:rPr lang="en-IN" sz="1400"/>
                        <a:t>Although his business operates only in the U.S., </a:t>
                      </a:r>
                      <a:r>
                        <a:rPr lang="en-IN" sz="1400" b="1"/>
                        <a:t>$1.4 m</a:t>
                      </a:r>
                      <a:r>
                        <a:rPr lang="en-IN" sz="1400"/>
                        <a:t> has already been wired this year to offshore firms in Luxembourg, Cyprus, and Malta (past transactions).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063992"/>
                  </a:ext>
                </a:extLst>
              </a:tr>
              <a:tr h="768167">
                <a:tc>
                  <a:txBody>
                    <a:bodyPr/>
                    <a:lstStyle/>
                    <a:p>
                      <a:r>
                        <a:rPr lang="en-IN" sz="1400"/>
                        <a:t>The latest wire — </a:t>
                      </a:r>
                      <a:r>
                        <a:rPr lang="en-IN" sz="1400" b="1"/>
                        <a:t>$120 k to “</a:t>
                      </a:r>
                      <a:r>
                        <a:rPr lang="en-IN" sz="1400" b="1" err="1"/>
                        <a:t>Brightshore</a:t>
                      </a:r>
                      <a:r>
                        <a:rPr lang="en-IN" sz="1400" b="1"/>
                        <a:t> Dynamics S.A.”</a:t>
                      </a:r>
                      <a:r>
                        <a:rPr lang="en-IN" sz="1400"/>
                        <a:t> in Luxembourg — is the third payment to a company that was incorporated only four weeks ago (open‑source check).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330076"/>
                  </a:ext>
                </a:extLst>
              </a:tr>
              <a:tr h="544118">
                <a:tc>
                  <a:txBody>
                    <a:bodyPr/>
                    <a:lstStyle/>
                    <a:p>
                      <a:r>
                        <a:rPr lang="en-IN" sz="1400"/>
                        <a:t>When asked for contracts or invoices, Kevin said the payments were for “logistics consulting” but never produced any documents (RM notes).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76049"/>
                  </a:ext>
                </a:extLst>
              </a:tr>
              <a:tr h="544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A previous alert in 2024 suggested he might be acting as an unlicensed money‑service business; we warned him at that time (alerts log).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0368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85E14C-64FD-F287-068F-02041E24F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870601"/>
              </p:ext>
            </p:extLst>
          </p:nvPr>
        </p:nvGraphicFramePr>
        <p:xfrm>
          <a:off x="637784" y="5464204"/>
          <a:ext cx="10950145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50145">
                  <a:extLst>
                    <a:ext uri="{9D8B030D-6E8A-4147-A177-3AD203B41FA5}">
                      <a16:colId xmlns:a16="http://schemas.microsoft.com/office/drawing/2014/main" val="2505523261"/>
                    </a:ext>
                  </a:extLst>
                </a:gridCol>
              </a:tblGrid>
              <a:tr h="270082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Outcome &amp; Summary Analysis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Offshore shell beneficiary, volume disproportionate to stated domestic trucking business, PEP‑adjacent risk, repeated unanswered document requests.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838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7CAA94-3E76-4907-B034-E0414F54E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34625"/>
              </p:ext>
            </p:extLst>
          </p:nvPr>
        </p:nvGraphicFramePr>
        <p:xfrm>
          <a:off x="225468" y="150312"/>
          <a:ext cx="11736888" cy="656120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6350">
                  <a:extLst>
                    <a:ext uri="{9D8B030D-6E8A-4147-A177-3AD203B41FA5}">
                      <a16:colId xmlns:a16="http://schemas.microsoft.com/office/drawing/2014/main" val="2129902681"/>
                    </a:ext>
                  </a:extLst>
                </a:gridCol>
                <a:gridCol w="2812150">
                  <a:extLst>
                    <a:ext uri="{9D8B030D-6E8A-4147-A177-3AD203B41FA5}">
                      <a16:colId xmlns:a16="http://schemas.microsoft.com/office/drawing/2014/main" val="2173219529"/>
                    </a:ext>
                  </a:extLst>
                </a:gridCol>
                <a:gridCol w="4769708">
                  <a:extLst>
                    <a:ext uri="{9D8B030D-6E8A-4147-A177-3AD203B41FA5}">
                      <a16:colId xmlns:a16="http://schemas.microsoft.com/office/drawing/2014/main" val="1714530811"/>
                    </a:ext>
                  </a:extLst>
                </a:gridCol>
                <a:gridCol w="3868680">
                  <a:extLst>
                    <a:ext uri="{9D8B030D-6E8A-4147-A177-3AD203B41FA5}">
                      <a16:colId xmlns:a16="http://schemas.microsoft.com/office/drawing/2014/main" val="1891781492"/>
                    </a:ext>
                  </a:extLst>
                </a:gridCol>
              </a:tblGrid>
              <a:tr h="29809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Extension to AI AML Investigation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What it does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Example impact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714120"/>
                  </a:ext>
                </a:extLst>
              </a:tr>
              <a:tr h="787316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1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Dynamic, per-customer thresholds (behavioural baselines)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Learns each customer’s normal cash-flow envelope and raises the ceiling automatically when the behaviour is well-explained by historical data—or lowers it when activity becomes erratic.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frequent-traveller’s foreign-ATM withdrawals stop generating $1 k cash-structuring alerts, while a “quiet” savings account that suddenly receives five wires in 48 h trips an instant trigger even though each wire is only $8 k.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269776"/>
                  </a:ext>
                </a:extLst>
              </a:tr>
              <a:tr h="73647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2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Predict-and-prevent monitoring (“no alert needed”)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Runs the transaction through an ML classifier before core rules fire; if the pattern is 99 % likely to be legitimate given KYC + past behaviour, the rule is bypassed (with an auditable “self-clear” record).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John’s annual ESPP ACH deposit is auto-closed at ingest, cutting total alert volume ~3–5 %.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8524142"/>
                  </a:ext>
                </a:extLst>
              </a:tr>
              <a:tr h="594452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3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Customer-level holistic risk scoring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Re-scores customers nightly using graph features, external data and alert outcomes. Risk scores feed back into thresholds, EDD cadence and manual-review queues.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Customers whose scores jump from 0.35 → 0.62 are hot-listed for RM outreach and a KYC refresh—even if no single transaction breached a rule.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987976"/>
                  </a:ext>
                </a:extLst>
              </a:tr>
              <a:tr h="594452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4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Real-time interdiction / “lock-down” logic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If an event’s ML threat score exceeds a hard cut-off (say 0.98) the agent auto-places a debit block and notifies fraud &amp; AML teams simultaneously.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You halt an outbound $75 k wire to a brand-new Cayman entity seconds after initiation.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414089"/>
                  </a:ext>
                </a:extLst>
              </a:tr>
              <a:tr h="73647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5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Peer-group anomaly analytics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Clusters customers into micro-segments (e.g., “Michigan art dealers”) and flags those deviating sharply from the peer envelope even when in-segment behaviour looks OK individually.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Darius’s ratio of prepaid-ACH inflows to declared art sales is 5× the peer median, escalating him for SAR review before a high-value event fires.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74592"/>
                  </a:ext>
                </a:extLst>
              </a:tr>
              <a:tr h="73647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6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KYT enrichment &amp; alias resolution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Automatically maps counterparties across networks (sanctions lists, adverse-media feeds, leaked-company registries) and tags transactions with enriched metadata the second they arrive.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$14 k wire from “Trade Services LLP” is instantly recognised as linked to an OFAC-listed beneficial owner, turning what would have been a low-value false positive into a must-review hit.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046474"/>
                  </a:ext>
                </a:extLst>
              </a:tr>
              <a:tr h="73647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7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Narrative drafting &amp; SAR pre-population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Converts investigation notes, alert data and open-source intelligence into a first-draft SAR narrative in regulator-friendly style, including key dates, amounts and typology codes.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Investigators cut SAR filing time from 90 minutes to &lt; 15 minutes per case.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9735"/>
                  </a:ext>
                </a:extLst>
              </a:tr>
              <a:tr h="594452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8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Continuous rule-tuning with closed-loop feedback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Every resolved alert (true-positive or false-positive) is fed back to re-weight features, retrain models and auto-suggest parameter changes to legacy rules.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“Rule 17 – Cash Structuring” proposes a new split-threshold (USD 4 k) that would have captured 96 % of last quarter’s true SARs while cutting false positives 38 %.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431641"/>
                  </a:ext>
                </a:extLst>
              </a:tr>
              <a:tr h="736470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9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Regulatory change simulation &amp; “what-if” sandbox</a:t>
                      </a:r>
                      <a:endParaRPr lang="en-IN" sz="1200"/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Lets compliance teams spin up alternate rule books or model versions and replay 12 months of data to see alert volumes, SAR counts and staffing load before pushing to production.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When FinCEN raises the cross-border-wire threshold, you quantify the drop in alert volume and budget redeployment in a single dashboard.</a:t>
                      </a:r>
                    </a:p>
                  </a:txBody>
                  <a:tcPr marL="15044" marR="15044" marT="7521" marB="7521" anchor="ctr">
                    <a:lnL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A4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2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07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24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4ECB028312244E9B680F54C98F75F7" ma:contentTypeVersion="8" ma:contentTypeDescription="Create a new document." ma:contentTypeScope="" ma:versionID="fb30883fc5f032f2a39302d7c4b66057">
  <xsd:schema xmlns:xsd="http://www.w3.org/2001/XMLSchema" xmlns:xs="http://www.w3.org/2001/XMLSchema" xmlns:p="http://schemas.microsoft.com/office/2006/metadata/properties" xmlns:ns2="23841259-6205-4d3d-bcd0-c155fdecaaa8" targetNamespace="http://schemas.microsoft.com/office/2006/metadata/properties" ma:root="true" ma:fieldsID="41a3ee7858760ecf19ec9b387d8a4e4e" ns2:_="">
    <xsd:import namespace="23841259-6205-4d3d-bcd0-c155fdecaa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841259-6205-4d3d-bcd0-c155fdecaa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99A052-8AC8-47A5-B0F6-C44A8F848D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BC8BD9-CE58-476A-84BA-AFE0F9369867}">
  <ds:schemaRefs>
    <ds:schemaRef ds:uri="23841259-6205-4d3d-bcd0-c155fdecaa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D7B23A7-5646-407E-9C5E-E95BD9A17C6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2558</Words>
  <Application>Microsoft Macintosh PowerPoint</Application>
  <PresentationFormat>Widescreen</PresentationFormat>
  <Paragraphs>275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AML Alert Investigations</vt:lpstr>
      <vt:lpstr>Scenario 1: Inward | Domestic | False Positive</vt:lpstr>
      <vt:lpstr>Scenario 2: Inward | Domestic | Suspected Money Laundering</vt:lpstr>
      <vt:lpstr>Scenario 3: Inward | Cross‑Border | False Positive</vt:lpstr>
      <vt:lpstr>Scenario 4: Inward | Cross‑Border |  Suspected Money Laundering</vt:lpstr>
      <vt:lpstr>Scenario 5: Outward | Domestic | False Positive</vt:lpstr>
      <vt:lpstr>Scenario 6: Outward | Domestic | Suspected Money Laundering</vt:lpstr>
      <vt:lpstr>Scenario 7: Outward | Cross‑Border | False Positive</vt:lpstr>
      <vt:lpstr>Scenario 8: Outward | Cross‑Border | Suspected Money Laundering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Somil Soni</dc:creator>
  <cp:lastModifiedBy>Sameer Gopal Herkal</cp:lastModifiedBy>
  <cp:revision>2</cp:revision>
  <dcterms:created xsi:type="dcterms:W3CDTF">2025-04-13T19:44:13Z</dcterms:created>
  <dcterms:modified xsi:type="dcterms:W3CDTF">2025-06-28T09:27:43Z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0x0101003C4ECB028312244E9B680F54C98F75F7</vt:lpwstr>
  </property>
</Properties>
</file>